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2200" b="1">
                <a:solidFill>
                  <a:srgbClr val="2E4A62"/>
                </a:solidFill>
                <a:latin typeface="微软雅黑"/>
                <a:ea typeface="微软雅黑"/>
              </a:rPr>
              <a:t>图 2-1  本课题总体框架图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249527" y="749808"/>
            <a:ext cx="9692640" cy="621792"/>
          </a:xfrm>
          <a:prstGeom prst="roundRect">
            <a:avLst/>
          </a:prstGeom>
          <a:solidFill>
            <a:srgbClr val="FCE4D6"/>
          </a:solidFill>
          <a:ln w="254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50" b="1">
                <a:solidFill>
                  <a:srgbClr val="C55A11"/>
                </a:solidFill>
                <a:latin typeface="微软雅黑"/>
                <a:ea typeface="微软雅黑"/>
              </a:rPr>
              <a:t>总体目标：构建巴渝优秀传统文化资源知识图谱，揭示价值内涵，提出传播创新路径</a:t>
            </a:r>
          </a:p>
        </p:txBody>
      </p:sp>
      <p:sp>
        <p:nvSpPr>
          <p:cNvPr id="4" name="Down Arrow 3"/>
          <p:cNvSpPr/>
          <p:nvPr/>
        </p:nvSpPr>
        <p:spPr>
          <a:xfrm>
            <a:off x="5903823" y="1389888"/>
            <a:ext cx="384048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116939" y="1682496"/>
            <a:ext cx="3063240" cy="658368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472C4"/>
                </a:solidFill>
                <a:latin typeface="微软雅黑"/>
                <a:ea typeface="微软雅黑"/>
              </a:rPr>
              <a:t>问题一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资源分散、标准不一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64227" y="1682496"/>
            <a:ext cx="3063240" cy="658368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问题二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关联薄弱、阐释不深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11515" y="1682496"/>
            <a:ext cx="3063240" cy="658368"/>
          </a:xfrm>
          <a:prstGeom prst="roundRect">
            <a:avLst/>
          </a:prstGeom>
          <a:solidFill>
            <a:srgbClr val="FFF2CC"/>
          </a:solidFill>
          <a:ln w="285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48235"/>
                </a:solidFill>
                <a:latin typeface="微软雅黑"/>
                <a:ea typeface="微软雅黑"/>
              </a:rPr>
              <a:t>问题三</a:t>
            </a:r>
          </a:p>
          <a:p>
            <a:pPr algn="ctr">
              <a:lnSpc>
                <a:spcPct val="100000"/>
              </a:lnSpc>
            </a:pPr>
            <a:r>
              <a:rPr sz="1100" b="0">
                <a:solidFill>
                  <a:srgbClr val="262626"/>
                </a:solidFill>
                <a:latin typeface="微软雅黑"/>
                <a:ea typeface="微软雅黑"/>
              </a:rPr>
              <a:t>转化不足、场景不清</a:t>
            </a:r>
          </a:p>
        </p:txBody>
      </p:sp>
      <p:sp>
        <p:nvSpPr>
          <p:cNvPr id="8" name="Down Arrow 7"/>
          <p:cNvSpPr/>
          <p:nvPr/>
        </p:nvSpPr>
        <p:spPr>
          <a:xfrm>
            <a:off x="2557119" y="2359152"/>
            <a:ext cx="182880" cy="164592"/>
          </a:xfrm>
          <a:prstGeom prst="downArrow">
            <a:avLst/>
          </a:prstGeom>
          <a:solidFill>
            <a:srgbClr val="447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Down Arrow 8"/>
          <p:cNvSpPr/>
          <p:nvPr/>
        </p:nvSpPr>
        <p:spPr>
          <a:xfrm>
            <a:off x="6004407" y="2359152"/>
            <a:ext cx="182880" cy="164592"/>
          </a:xfrm>
          <a:prstGeom prst="downArrow">
            <a:avLst/>
          </a:prstGeom>
          <a:solidFill>
            <a:srgbClr val="ED7D3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Down Arrow 9"/>
          <p:cNvSpPr/>
          <p:nvPr/>
        </p:nvSpPr>
        <p:spPr>
          <a:xfrm>
            <a:off x="9451695" y="2359152"/>
            <a:ext cx="182880" cy="164592"/>
          </a:xfrm>
          <a:prstGeom prst="downArrow">
            <a:avLst/>
          </a:prstGeom>
          <a:solidFill>
            <a:srgbClr val="5482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116939" y="2633472"/>
            <a:ext cx="3063240" cy="1691640"/>
          </a:xfrm>
          <a:prstGeom prst="roundRect">
            <a:avLst/>
          </a:prstGeom>
          <a:solidFill>
            <a:srgbClr val="DEEAF6"/>
          </a:solidFill>
          <a:ln w="28575">
            <a:solidFill>
              <a:srgbClr val="4472C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4472C4"/>
                </a:solidFill>
                <a:latin typeface="微软雅黑"/>
                <a:ea typeface="微软雅黑"/>
              </a:rPr>
              <a:t>研究内容一</a:t>
            </a:r>
          </a:p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62626"/>
                </a:solidFill>
                <a:latin typeface="微软雅黑"/>
                <a:ea typeface="微软雅黑"/>
              </a:rPr>
              <a:t>资源数据化整理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62626"/>
                </a:solidFill>
                <a:latin typeface="微软雅黑"/>
                <a:ea typeface="微软雅黑"/>
              </a:rPr>
              <a:t>资源普查→分类体系→数据规范→基础数据目录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64227" y="2633472"/>
            <a:ext cx="3063240" cy="1691640"/>
          </a:xfrm>
          <a:prstGeom prst="roundRect">
            <a:avLst/>
          </a:prstGeom>
          <a:solidFill>
            <a:srgbClr val="DEEAF6"/>
          </a:solidFill>
          <a:ln w="28575">
            <a:solidFill>
              <a:srgbClr val="ED7D3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ED7D31"/>
                </a:solidFill>
                <a:latin typeface="微软雅黑"/>
                <a:ea typeface="微软雅黑"/>
              </a:rPr>
              <a:t>研究内容二</a:t>
            </a:r>
          </a:p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62626"/>
                </a:solidFill>
                <a:latin typeface="微软雅黑"/>
                <a:ea typeface="微软雅黑"/>
              </a:rPr>
              <a:t>知识图谱构建与价值挖掘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62626"/>
                </a:solidFill>
                <a:latin typeface="微软雅黑"/>
                <a:ea typeface="微软雅黑"/>
              </a:rPr>
              <a:t>本体建模→实体识别→关系抽取→知识融合→图谱原型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62626"/>
                </a:solidFill>
                <a:latin typeface="微软雅黑"/>
                <a:ea typeface="微软雅黑"/>
              </a:rPr>
              <a:t>→时空/主题/关系网络分析→价值内涵与精神标识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11515" y="2633472"/>
            <a:ext cx="3063240" cy="1691640"/>
          </a:xfrm>
          <a:prstGeom prst="roundRect">
            <a:avLst/>
          </a:prstGeom>
          <a:solidFill>
            <a:srgbClr val="DEEAF6"/>
          </a:solidFill>
          <a:ln w="28575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200" b="1">
                <a:solidFill>
                  <a:srgbClr val="548235"/>
                </a:solidFill>
                <a:latin typeface="微软雅黑"/>
                <a:ea typeface="微软雅黑"/>
              </a:rPr>
              <a:t>研究内容三</a:t>
            </a:r>
          </a:p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262626"/>
                </a:solidFill>
                <a:latin typeface="微软雅黑"/>
                <a:ea typeface="微软雅黑"/>
              </a:rPr>
              <a:t>传播创新</a:t>
            </a:r>
          </a:p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262626"/>
                </a:solidFill>
                <a:latin typeface="微软雅黑"/>
                <a:ea typeface="微软雅黑"/>
              </a:rPr>
              <a:t>教育／文旅／公共文化服务／网络传播四类场景传播路径设计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648559" y="4325112"/>
            <a:ext cx="0" cy="128016"/>
          </a:xfrm>
          <a:prstGeom prst="line">
            <a:avLst/>
          </a:prstGeom>
          <a:ln w="19050">
            <a:solidFill>
              <a:srgbClr val="4472C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095847" y="4325112"/>
            <a:ext cx="0" cy="128016"/>
          </a:xfrm>
          <a:prstGeom prst="line">
            <a:avLst/>
          </a:prstGeom>
          <a:ln w="19050">
            <a:solidFill>
              <a:srgbClr val="ED7D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543135" y="4325112"/>
            <a:ext cx="0" cy="128016"/>
          </a:xfrm>
          <a:prstGeom prst="line">
            <a:avLst/>
          </a:prstGeom>
          <a:ln w="19050">
            <a:solidFill>
              <a:srgbClr val="54823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2648559" y="4453128"/>
            <a:ext cx="6894576" cy="0"/>
          </a:xfrm>
          <a:prstGeom prst="line">
            <a:avLst/>
          </a:prstGeom>
          <a:ln w="19050">
            <a:solidFill>
              <a:srgbClr val="59595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5272887" y="4462272"/>
            <a:ext cx="1645920" cy="219456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1050" b="1">
                <a:solidFill>
                  <a:srgbClr val="595959"/>
                </a:solidFill>
                <a:latin typeface="微软雅黑"/>
                <a:ea typeface="微软雅黑"/>
              </a:rPr>
              <a:t>共同支撑</a:t>
            </a:r>
          </a:p>
        </p:txBody>
      </p:sp>
      <p:sp>
        <p:nvSpPr>
          <p:cNvPr id="19" name="Down Arrow 18"/>
          <p:cNvSpPr/>
          <p:nvPr/>
        </p:nvSpPr>
        <p:spPr>
          <a:xfrm>
            <a:off x="5903823" y="4672584"/>
            <a:ext cx="384048" cy="182880"/>
          </a:xfrm>
          <a:prstGeom prst="downArrow">
            <a:avLst/>
          </a:prstGeom>
          <a:solidFill>
            <a:srgbClr val="5959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249527" y="4910328"/>
            <a:ext cx="9692640" cy="512064"/>
          </a:xfrm>
          <a:prstGeom prst="roundRect">
            <a:avLst/>
          </a:prstGeom>
          <a:solidFill>
            <a:srgbClr val="FCE4D6"/>
          </a:solidFill>
          <a:ln w="25400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50" b="1">
                <a:solidFill>
                  <a:srgbClr val="C55A11"/>
                </a:solidFill>
                <a:latin typeface="微软雅黑"/>
                <a:ea typeface="微软雅黑"/>
              </a:rPr>
              <a:t>预期成果：学术论文 · 研究报告 · 知识图谱原型 · 可视化成果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6095847" y="5422392"/>
            <a:ext cx="0" cy="237744"/>
          </a:xfrm>
          <a:prstGeom prst="line">
            <a:avLst/>
          </a:prstGeom>
          <a:ln w="19050">
            <a:solidFill>
              <a:srgbClr val="548235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Up Arrow 21"/>
          <p:cNvSpPr/>
          <p:nvPr/>
        </p:nvSpPr>
        <p:spPr>
          <a:xfrm>
            <a:off x="5903823" y="5440680"/>
            <a:ext cx="384048" cy="164592"/>
          </a:xfrm>
          <a:prstGeom prst="upArrow">
            <a:avLst/>
          </a:prstGeom>
          <a:solidFill>
            <a:srgbClr val="548235"/>
          </a:solidFill>
          <a:ln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1249527" y="5660136"/>
            <a:ext cx="9692640" cy="475488"/>
          </a:xfrm>
          <a:prstGeom prst="roundRect">
            <a:avLst/>
          </a:prstGeom>
          <a:solidFill>
            <a:srgbClr val="E2EFDA"/>
          </a:solidFill>
          <a:ln w="25400">
            <a:solidFill>
              <a:srgbClr val="54823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0800" rIns="50800" tIns="25400" bIns="25400"/>
          <a:lstStyle/>
          <a:p>
            <a:pPr algn="ctr">
              <a:lnSpc>
                <a:spcPct val="100000"/>
              </a:lnSpc>
            </a:pPr>
            <a:r>
              <a:rPr sz="1100" b="1">
                <a:solidFill>
                  <a:srgbClr val="548235"/>
                </a:solidFill>
                <a:latin typeface="微软雅黑"/>
                <a:ea typeface="微软雅黑"/>
              </a:rPr>
              <a:t>理论与技术支撑：数字人文理论 · 信息资源管理 · 知识图谱技术 · 巴渝文化研究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6227064"/>
            <a:ext cx="11247120" cy="457200"/>
          </a:xfrm>
          <a:prstGeom prst="rect">
            <a:avLst/>
          </a:prstGeom>
          <a:noFill/>
        </p:spPr>
        <p:txBody>
          <a:bodyPr wrap="square" anchor="ctr" lIns="25400" rIns="25400" tIns="12700" bIns="12700">
            <a:spAutoFit/>
          </a:bodyPr>
          <a:lstStyle/>
          <a:p>
            <a:pPr algn="ctr">
              <a:lnSpc>
                <a:spcPct val="105000"/>
              </a:lnSpc>
            </a:pPr>
            <a:r>
              <a:rPr sz="950" b="0">
                <a:solidFill>
                  <a:srgbClr val="595959"/>
                </a:solidFill>
                <a:latin typeface="微软雅黑"/>
                <a:ea typeface="微软雅黑"/>
              </a:rPr>
              <a:t>说明：三个现实问题与三项研究内容按颜色纵向对应（蓝—问题一/内容一，橙—问题二/内容二，绿—问题三/内容三）；研究内容二内嵌"数据知识化→知识价值化"技术路线；三项内容共同支撑总体目标实现，理论与技术支撑贯穿全过程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