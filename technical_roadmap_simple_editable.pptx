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"/>
            <a:ext cx="12193200" cy="3429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1B2631"/>
                </a:solidFill>
                <a:latin typeface="微软雅黑"/>
              </a:rPr>
              <a:t>图  "三图谱+双智能体" 赋能专业核心课程建设技术路线图（简版）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"/>
            <a:ext cx="1219320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/>
              </a:rPr>
              <a:t>问题 → 目标 → 内容 → 成果 · 四层递进 · 内容层闭环联动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32" y="754380"/>
            <a:ext cx="560887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32" y="754380"/>
            <a:ext cx="560887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问题层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三重断裂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5456" y="788670"/>
            <a:ext cx="3170232" cy="78867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5456" y="843534"/>
            <a:ext cx="3170232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微软雅黑"/>
              </a:rPr>
              <a:t>① "图—学" 断裂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456" y="1097280"/>
            <a:ext cx="3170232" cy="4457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>
                <a:solidFill>
                  <a:srgbClr val="515A5A"/>
                </a:solidFill>
                <a:latin typeface="微软雅黑"/>
              </a:rPr>
              <a:t>知识/能力图谱未连通"问题侧"数据</a:t>
            </a:r>
          </a:p>
          <a:p>
            <a:pPr algn="ctr"/>
            <a:r>
              <a:rPr sz="1050" b="0">
                <a:solidFill>
                  <a:srgbClr val="515A5A"/>
                </a:solidFill>
                <a:latin typeface="微软雅黑"/>
              </a:rPr>
              <a:t>学情诊断粗放 · 难以精准定位学习障碍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9212" y="788670"/>
            <a:ext cx="3170232" cy="78867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99212" y="843534"/>
            <a:ext cx="3170232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微软雅黑"/>
              </a:rPr>
              <a:t>② "AI—用" 断裂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9212" y="1097280"/>
            <a:ext cx="3170232" cy="4457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>
                <a:solidFill>
                  <a:srgbClr val="515A5A"/>
                </a:solidFill>
                <a:latin typeface="微软雅黑"/>
              </a:rPr>
              <a:t>通用AI难以嵌入爬虫强实践/对抗/合规场景</a:t>
            </a:r>
          </a:p>
          <a:p>
            <a:pPr algn="ctr"/>
            <a:r>
              <a:rPr sz="1050" b="0">
                <a:solidFill>
                  <a:srgbClr val="515A5A"/>
                </a:solidFill>
                <a:latin typeface="微软雅黑"/>
              </a:rPr>
              <a:t>伴学缺位 · 合规悬空 · 重技术轻伦理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2968" y="788670"/>
            <a:ext cx="3170232" cy="78867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22968" y="843534"/>
            <a:ext cx="3170232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微软雅黑"/>
              </a:rPr>
              <a:t>③ "教—评" 断裂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2968" y="1097280"/>
            <a:ext cx="3170232" cy="4457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>
                <a:solidFill>
                  <a:srgbClr val="515A5A"/>
                </a:solidFill>
                <a:latin typeface="微软雅黑"/>
              </a:rPr>
              <a:t>代码/调试/合规数据未被用于过程评价</a:t>
            </a:r>
          </a:p>
          <a:p>
            <a:pPr algn="ctr"/>
            <a:r>
              <a:rPr sz="1050" b="0">
                <a:solidFill>
                  <a:srgbClr val="515A5A"/>
                </a:solidFill>
                <a:latin typeface="微软雅黑"/>
              </a:rPr>
              <a:t>德技分离 · 改革经验缺乏可迁移载体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32" y="1783080"/>
            <a:ext cx="560887" cy="61722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932" y="1783080"/>
            <a:ext cx="560887" cy="6172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目标层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总目标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456" y="1817370"/>
            <a:ext cx="10364220" cy="61722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2286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456" y="1851660"/>
            <a:ext cx="10364220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D68910"/>
                </a:solidFill>
                <a:latin typeface="微软雅黑"/>
              </a:rPr>
              <a:t>建成以"三图谱 + 双智能体"为核心特征的专业核心课程样板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2962" y="2146554"/>
            <a:ext cx="1438797" cy="2263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2962" y="2146554"/>
            <a:ext cx="1438797" cy="22631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68910"/>
                </a:solidFill>
                <a:latin typeface="微软雅黑"/>
              </a:rPr>
              <a:t>一标准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657" y="2146554"/>
            <a:ext cx="1438797" cy="2263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657" y="2146554"/>
            <a:ext cx="1438797" cy="22631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68910"/>
                </a:solidFill>
                <a:latin typeface="微软雅黑"/>
              </a:rPr>
              <a:t>三图谱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6353" y="2146554"/>
            <a:ext cx="1438797" cy="2263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6353" y="2146554"/>
            <a:ext cx="1438797" cy="22631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68910"/>
                </a:solidFill>
                <a:latin typeface="微软雅黑"/>
              </a:rPr>
              <a:t>两智能体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8049" y="2146554"/>
            <a:ext cx="1438797" cy="2263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8049" y="2146554"/>
            <a:ext cx="1438797" cy="22631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68910"/>
                </a:solidFill>
                <a:latin typeface="微软雅黑"/>
              </a:rPr>
              <a:t>一靶场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09744" y="2146554"/>
            <a:ext cx="1438797" cy="2263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9744" y="2146554"/>
            <a:ext cx="1438797" cy="22631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68910"/>
                </a:solidFill>
                <a:latin typeface="微软雅黑"/>
              </a:rPr>
              <a:t>一模式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1440" y="2146554"/>
            <a:ext cx="1438797" cy="2263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1440" y="2146554"/>
            <a:ext cx="1438797" cy="22631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68910"/>
                </a:solidFill>
                <a:latin typeface="微软雅黑"/>
              </a:rPr>
              <a:t>一评价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60572" y="1577340"/>
            <a:ext cx="3536028" cy="240030"/>
          </a:xfrm>
          <a:prstGeom prst="line">
            <a:avLst/>
          </a:prstGeom>
          <a:ln w="1270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096600" y="1577340"/>
            <a:ext cx="487728" cy="240030"/>
          </a:xfrm>
          <a:prstGeom prst="line">
            <a:avLst/>
          </a:prstGeom>
          <a:ln w="1270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096600" y="1577340"/>
            <a:ext cx="4511484" cy="240030"/>
          </a:xfrm>
          <a:prstGeom prst="line">
            <a:avLst/>
          </a:prstGeom>
          <a:ln w="1270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1932" y="3429000"/>
            <a:ext cx="560887" cy="960120"/>
          </a:xfrm>
          <a:prstGeom prst="rect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932" y="3429000"/>
            <a:ext cx="560887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内容层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三条主线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闭环联动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456" y="2640330"/>
            <a:ext cx="2926368" cy="253746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25400">
            <a:solidFill>
              <a:srgbClr val="28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9581" y="2618211"/>
            <a:ext cx="414568" cy="414568"/>
          </a:xfrm>
          <a:prstGeom prst="ellipse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388" y="2736342"/>
            <a:ext cx="438955" cy="1783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65402" y="2729484"/>
            <a:ext cx="853524" cy="1920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8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65402" y="2729484"/>
            <a:ext cx="853524" cy="1920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874A6"/>
                </a:solidFill>
                <a:latin typeface="微软雅黑"/>
              </a:rPr>
              <a:t>认知底座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422" y="2955798"/>
            <a:ext cx="2804436" cy="3086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2874A6"/>
                </a:solidFill>
                <a:latin typeface="微软雅黑"/>
              </a:rPr>
              <a:t>"三图谱" 构建与</a:t>
            </a:r>
          </a:p>
          <a:p>
            <a:pPr algn="ctr"/>
            <a:r>
              <a:rPr sz="1250" b="1">
                <a:solidFill>
                  <a:srgbClr val="2874A6"/>
                </a:solidFill>
                <a:latin typeface="微软雅黑"/>
              </a:rPr>
              <a:t>课程标准重构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422" y="3278124"/>
            <a:ext cx="280443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微软雅黑"/>
              </a:rPr>
              <a:t>对应：图—学断裂 / KQ①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19320" y="3463290"/>
            <a:ext cx="2438640" cy="8229"/>
          </a:xfrm>
          <a:prstGeom prst="rect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6643" y="3578347"/>
            <a:ext cx="85352" cy="85352"/>
          </a:xfrm>
          <a:prstGeom prst="ellipse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41252" y="3545586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知识图谱  12 模块 · 86 知识点</a:t>
            </a:r>
          </a:p>
        </p:txBody>
      </p:sp>
      <p:sp>
        <p:nvSpPr>
          <p:cNvPr id="47" name="Oval 46"/>
          <p:cNvSpPr/>
          <p:nvPr/>
        </p:nvSpPr>
        <p:spPr>
          <a:xfrm>
            <a:off x="1176643" y="3866383"/>
            <a:ext cx="85352" cy="85352"/>
          </a:xfrm>
          <a:prstGeom prst="ellipse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1252" y="3833622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能力图谱  127 能力点</a:t>
            </a:r>
          </a:p>
        </p:txBody>
      </p:sp>
      <p:sp>
        <p:nvSpPr>
          <p:cNvPr id="49" name="Oval 48"/>
          <p:cNvSpPr/>
          <p:nvPr/>
        </p:nvSpPr>
        <p:spPr>
          <a:xfrm>
            <a:off x="1176643" y="4154419"/>
            <a:ext cx="85352" cy="85352"/>
          </a:xfrm>
          <a:prstGeom prst="ellipse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41252" y="4121658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问题图谱  2300+ 提问 · 400+ 错误</a:t>
            </a:r>
          </a:p>
        </p:txBody>
      </p:sp>
      <p:sp>
        <p:nvSpPr>
          <p:cNvPr id="51" name="Oval 50"/>
          <p:cNvSpPr/>
          <p:nvPr/>
        </p:nvSpPr>
        <p:spPr>
          <a:xfrm>
            <a:off x="1176643" y="4442455"/>
            <a:ext cx="85352" cy="85352"/>
          </a:xfrm>
          <a:prstGeom prst="ellipse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41252" y="4409694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五级建模  项目→任务→流程→技能→知识</a:t>
            </a:r>
          </a:p>
        </p:txBody>
      </p:sp>
      <p:sp>
        <p:nvSpPr>
          <p:cNvPr id="53" name="Oval 52"/>
          <p:cNvSpPr/>
          <p:nvPr/>
        </p:nvSpPr>
        <p:spPr>
          <a:xfrm>
            <a:off x="1176643" y="4730491"/>
            <a:ext cx="85352" cy="85352"/>
          </a:xfrm>
          <a:prstGeom prst="ellipse">
            <a:avLst/>
          </a:prstGeom>
          <a:solidFill>
            <a:srgbClr val="287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1252" y="4697730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课程标准  3 模块 · 5 项目 · 12 任务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1144" y="2640330"/>
            <a:ext cx="2926368" cy="2537460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2540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55269" y="2618211"/>
            <a:ext cx="414568" cy="414568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43076" y="2736342"/>
            <a:ext cx="438955" cy="1783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Ⅱ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11090" y="2729484"/>
            <a:ext cx="853524" cy="1920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11090" y="2729484"/>
            <a:ext cx="853524" cy="1920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1E8449"/>
                </a:solidFill>
                <a:latin typeface="微软雅黑"/>
              </a:rPr>
              <a:t>执行引擎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82110" y="2955798"/>
            <a:ext cx="2804436" cy="3086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1E8449"/>
                </a:solidFill>
                <a:latin typeface="微软雅黑"/>
              </a:rPr>
              <a:t>"双智能体" 研发</a:t>
            </a:r>
          </a:p>
          <a:p>
            <a:pPr algn="ctr"/>
            <a:r>
              <a:rPr sz="1250" b="1">
                <a:solidFill>
                  <a:srgbClr val="1E8449"/>
                </a:solidFill>
                <a:latin typeface="微软雅黑"/>
              </a:rPr>
              <a:t>与场景嵌入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82110" y="3278124"/>
            <a:ext cx="280443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微软雅黑"/>
              </a:rPr>
              <a:t>对应：AI—用断裂 / KQ②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65008" y="3463290"/>
            <a:ext cx="2438640" cy="82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322331" y="3578347"/>
            <a:ext cx="85352" cy="85352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940" y="3545586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底层引擎  私有化 LLM + RAG + LoRA</a:t>
            </a:r>
          </a:p>
        </p:txBody>
      </p:sp>
      <p:sp>
        <p:nvSpPr>
          <p:cNvPr id="65" name="Oval 64"/>
          <p:cNvSpPr/>
          <p:nvPr/>
        </p:nvSpPr>
        <p:spPr>
          <a:xfrm>
            <a:off x="5322331" y="3866383"/>
            <a:ext cx="85352" cy="85352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940" y="3833622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智学小助  代码伴学·路径推荐·归因</a:t>
            </a:r>
          </a:p>
        </p:txBody>
      </p:sp>
      <p:sp>
        <p:nvSpPr>
          <p:cNvPr id="67" name="Oval 66"/>
          <p:cNvSpPr/>
          <p:nvPr/>
        </p:nvSpPr>
        <p:spPr>
          <a:xfrm>
            <a:off x="5322331" y="4154419"/>
            <a:ext cx="85352" cy="85352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940" y="4121658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AI 合规官  法规嵌入·预警·审查</a:t>
            </a:r>
          </a:p>
        </p:txBody>
      </p:sp>
      <p:sp>
        <p:nvSpPr>
          <p:cNvPr id="69" name="Oval 68"/>
          <p:cNvSpPr/>
          <p:nvPr/>
        </p:nvSpPr>
        <p:spPr>
          <a:xfrm>
            <a:off x="5322331" y="4442455"/>
            <a:ext cx="85352" cy="85352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940" y="4409694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仿真靶场  4 类站点 · 10 级反爬</a:t>
            </a:r>
          </a:p>
        </p:txBody>
      </p:sp>
      <p:sp>
        <p:nvSpPr>
          <p:cNvPr id="71" name="Oval 70"/>
          <p:cNvSpPr/>
          <p:nvPr/>
        </p:nvSpPr>
        <p:spPr>
          <a:xfrm>
            <a:off x="5322331" y="4730491"/>
            <a:ext cx="85352" cy="85352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940" y="4697730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红蓝对抗  实战演练模式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66832" y="2640330"/>
            <a:ext cx="2926368" cy="2537460"/>
          </a:xfrm>
          <a:prstGeom prst="roundRect">
            <a:avLst>
              <a:gd name="adj" fmla="val 8000"/>
            </a:avLst>
          </a:prstGeom>
          <a:solidFill>
            <a:srgbClr val="F4ECF7"/>
          </a:solidFill>
          <a:ln w="2540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00957" y="2618211"/>
            <a:ext cx="414568" cy="414568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88764" y="2736342"/>
            <a:ext cx="438955" cy="1783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Ⅲ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1156778" y="2729484"/>
            <a:ext cx="853524" cy="1920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156778" y="2729484"/>
            <a:ext cx="853524" cy="1920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6C3483"/>
                </a:solidFill>
                <a:latin typeface="微软雅黑"/>
              </a:rPr>
              <a:t>评价+迁移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7798" y="2955798"/>
            <a:ext cx="2804436" cy="3086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6C3483"/>
                </a:solidFill>
                <a:latin typeface="微软雅黑"/>
              </a:rPr>
              <a:t>"双师+双工单"模式与</a:t>
            </a:r>
          </a:p>
          <a:p>
            <a:pPr algn="ctr"/>
            <a:r>
              <a:rPr sz="1250" b="1">
                <a:solidFill>
                  <a:srgbClr val="6C3483"/>
                </a:solidFill>
                <a:latin typeface="微软雅黑"/>
              </a:rPr>
              <a:t>五维评价·迁移推广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7798" y="3278124"/>
            <a:ext cx="280443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微软雅黑"/>
              </a:rPr>
              <a:t>对应：教—评断裂 / KQ③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10696" y="3463290"/>
            <a:ext cx="2438640" cy="8229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468019" y="3578347"/>
            <a:ext cx="85352" cy="85352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32628" y="3545586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双师+双工单  教师+AI / 教学+企业</a:t>
            </a:r>
          </a:p>
        </p:txBody>
      </p:sp>
      <p:sp>
        <p:nvSpPr>
          <p:cNvPr id="83" name="Oval 82"/>
          <p:cNvSpPr/>
          <p:nvPr/>
        </p:nvSpPr>
        <p:spPr>
          <a:xfrm>
            <a:off x="9468019" y="3866383"/>
            <a:ext cx="85352" cy="85352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32628" y="3833622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五维评价  代码·调试·协作·合规·伦理</a:t>
            </a:r>
          </a:p>
        </p:txBody>
      </p:sp>
      <p:sp>
        <p:nvSpPr>
          <p:cNvPr id="85" name="Oval 84"/>
          <p:cNvSpPr/>
          <p:nvPr/>
        </p:nvSpPr>
        <p:spPr>
          <a:xfrm>
            <a:off x="9468019" y="4154419"/>
            <a:ext cx="85352" cy="85352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32628" y="4121658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伦理 20%   重大违规一票否决</a:t>
            </a:r>
          </a:p>
        </p:txBody>
      </p:sp>
      <p:sp>
        <p:nvSpPr>
          <p:cNvPr id="87" name="Oval 86"/>
          <p:cNvSpPr/>
          <p:nvPr/>
        </p:nvSpPr>
        <p:spPr>
          <a:xfrm>
            <a:off x="9468019" y="4442455"/>
            <a:ext cx="85352" cy="85352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32628" y="4409694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学习分析  精准补偿与过程性闭环</a:t>
            </a:r>
          </a:p>
        </p:txBody>
      </p:sp>
      <p:sp>
        <p:nvSpPr>
          <p:cNvPr id="89" name="Oval 88"/>
          <p:cNvSpPr/>
          <p:nvPr/>
        </p:nvSpPr>
        <p:spPr>
          <a:xfrm>
            <a:off x="9468019" y="4730491"/>
            <a:ext cx="85352" cy="85352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32628" y="4697730"/>
            <a:ext cx="2499606" cy="1714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B2631"/>
                </a:solidFill>
                <a:latin typeface="微软雅黑"/>
              </a:rPr>
              <a:t>迁移推广  跨课程指南+师资培训包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2438640" y="1597914"/>
            <a:ext cx="121932" cy="1042416"/>
          </a:xfrm>
          <a:prstGeom prst="line">
            <a:avLst/>
          </a:prstGeom>
          <a:ln w="15240">
            <a:solidFill>
              <a:srgbClr val="2874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584328" y="1597914"/>
            <a:ext cx="0" cy="1042416"/>
          </a:xfrm>
          <a:prstGeom prst="line">
            <a:avLst/>
          </a:prstGeom>
          <a:ln w="15240">
            <a:solidFill>
              <a:srgbClr val="1E844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608084" y="1597914"/>
            <a:ext cx="121932" cy="1042416"/>
          </a:xfrm>
          <a:prstGeom prst="line">
            <a:avLst/>
          </a:prstGeom>
          <a:ln w="15240">
            <a:solidFill>
              <a:srgbClr val="6C348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938403" y="2983230"/>
            <a:ext cx="1146161" cy="0"/>
          </a:xfrm>
          <a:prstGeom prst="line">
            <a:avLst/>
          </a:prstGeom>
          <a:ln w="2794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962790" y="2743200"/>
            <a:ext cx="1097388" cy="21945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62790" y="2743200"/>
            <a:ext cx="1097388" cy="1234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5D6D7E"/>
                </a:solidFill>
                <a:latin typeface="微软雅黑"/>
              </a:rPr>
              <a:t>数据语义供给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2790" y="2852928"/>
            <a:ext cx="1097388" cy="102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D6D7E"/>
                </a:solidFill>
                <a:latin typeface="微软雅黑"/>
              </a:rPr>
              <a:t>RAG 检索源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084091" y="2983230"/>
            <a:ext cx="1146161" cy="0"/>
          </a:xfrm>
          <a:prstGeom prst="line">
            <a:avLst/>
          </a:prstGeom>
          <a:ln w="2794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8108478" y="2743200"/>
            <a:ext cx="1097388" cy="21945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08478" y="2743200"/>
            <a:ext cx="1097388" cy="1234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5D6D7E"/>
                </a:solidFill>
                <a:latin typeface="微软雅黑"/>
              </a:rPr>
              <a:t>过程数据沉淀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08478" y="2852928"/>
            <a:ext cx="1097388" cy="102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D6D7E"/>
                </a:solidFill>
                <a:latin typeface="微软雅黑"/>
              </a:rPr>
              <a:t>合规证据链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730016" y="5143500"/>
            <a:ext cx="0" cy="308610"/>
          </a:xfrm>
          <a:prstGeom prst="line">
            <a:avLst/>
          </a:prstGeom>
          <a:ln w="25400">
            <a:solidFill>
              <a:srgbClr val="D354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2402060" y="5452110"/>
            <a:ext cx="8364535" cy="0"/>
          </a:xfrm>
          <a:prstGeom prst="line">
            <a:avLst/>
          </a:prstGeom>
          <a:ln w="25400">
            <a:solidFill>
              <a:srgbClr val="D354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438640" y="5143500"/>
            <a:ext cx="0" cy="308610"/>
          </a:xfrm>
          <a:prstGeom prst="line">
            <a:avLst/>
          </a:prstGeom>
          <a:ln w="25400">
            <a:solidFill>
              <a:srgbClr val="D354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4633416" y="5349240"/>
            <a:ext cx="2926368" cy="21945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33416" y="5349240"/>
            <a:ext cx="2926368" cy="1234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D35400"/>
                </a:solidFill>
                <a:latin typeface="微软雅黑"/>
              </a:rPr>
              <a:t>↻ 评价反哺 · 学习分析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33416" y="5452110"/>
            <a:ext cx="2926368" cy="960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D35400"/>
                </a:solidFill>
                <a:latin typeface="微软雅黑"/>
              </a:rPr>
              <a:t>驱动问题图谱动态演化 · 形成"诊断—伴学—评价—反哺"闭环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170389" y="5712714"/>
            <a:ext cx="536500" cy="1920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28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170389" y="5712714"/>
            <a:ext cx="536500" cy="1920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>
                <a:solidFill>
                  <a:srgbClr val="2874A6"/>
                </a:solidFill>
                <a:latin typeface="微软雅黑"/>
              </a:rPr>
              <a:t>底座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316077" y="5712714"/>
            <a:ext cx="536500" cy="1920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16077" y="5712714"/>
            <a:ext cx="536500" cy="1920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>
                <a:solidFill>
                  <a:srgbClr val="1E8449"/>
                </a:solidFill>
                <a:latin typeface="微软雅黑"/>
              </a:rPr>
              <a:t>引擎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461765" y="5712714"/>
            <a:ext cx="536500" cy="1920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461765" y="5712714"/>
            <a:ext cx="536500" cy="1920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>
                <a:solidFill>
                  <a:srgbClr val="6C3483"/>
                </a:solidFill>
                <a:latin typeface="微软雅黑"/>
              </a:rPr>
              <a:t>闭环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1932" y="5760720"/>
            <a:ext cx="560887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21932" y="5760720"/>
            <a:ext cx="560887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成果层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八位一体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75456" y="5760720"/>
            <a:ext cx="10364220" cy="754380"/>
          </a:xfrm>
          <a:prstGeom prst="roundRect">
            <a:avLst>
              <a:gd name="adj" fmla="val 8000"/>
            </a:avLst>
          </a:prstGeom>
          <a:solidFill>
            <a:srgbClr val="FFFDF4"/>
          </a:solidFill>
          <a:ln w="2286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93745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75456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研究报告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5456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≥ 5 千字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045070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26780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课程标准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26780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2026 版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096395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078105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三图谱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78105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知识+能力+问题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147720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129430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智学小助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29430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私有化智能体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199045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80755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AI 合规官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80755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私有化智能体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50369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232080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仿真靶场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32080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含红蓝对抗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301694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283404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教学数据集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83404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脱敏样本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353019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334729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数字资源包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34729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≥ 300 件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404344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386054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教研论文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386054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≥ 1 篇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455669" y="5815584"/>
            <a:ext cx="865717" cy="644652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437379" y="586359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7D6608"/>
                </a:solidFill>
                <a:latin typeface="微软雅黑"/>
              </a:rPr>
              <a:t>迁移指南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437379" y="6137910"/>
            <a:ext cx="902296" cy="24003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0">
                <a:solidFill>
                  <a:srgbClr val="B7950B"/>
                </a:solidFill>
                <a:latin typeface="微软雅黑"/>
              </a:rPr>
              <a:t>+ 师资培训</a:t>
            </a:r>
          </a:p>
        </p:txBody>
      </p:sp>
      <p:cxnSp>
        <p:nvCxnSpPr>
          <p:cNvPr id="147" name="Connector 146"/>
          <p:cNvCxnSpPr/>
          <p:nvPr/>
        </p:nvCxnSpPr>
        <p:spPr>
          <a:xfrm flipV="1">
            <a:off x="2438640" y="5760720"/>
            <a:ext cx="0" cy="157734"/>
          </a:xfrm>
          <a:prstGeom prst="line">
            <a:avLst/>
          </a:prstGeom>
          <a:ln w="17780">
            <a:solidFill>
              <a:srgbClr val="7D660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584328" y="5760720"/>
            <a:ext cx="0" cy="157734"/>
          </a:xfrm>
          <a:prstGeom prst="line">
            <a:avLst/>
          </a:prstGeom>
          <a:ln w="17780">
            <a:solidFill>
              <a:srgbClr val="7D660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730016" y="5760720"/>
            <a:ext cx="0" cy="157734"/>
          </a:xfrm>
          <a:prstGeom prst="line">
            <a:avLst/>
          </a:prstGeom>
          <a:ln w="17780">
            <a:solidFill>
              <a:srgbClr val="7D660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